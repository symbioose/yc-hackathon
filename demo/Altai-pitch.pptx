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(30s): Here's the thing everyone misses — the race is to make models smarter, but the firms deploying the most agents are deliberately blinding them. A hedge fund's best AI agent literally can't open a web page, because the CISO air-gapped it. That's the gap we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 (30s): The signal that moves a stock sits exactly where the air-gapped agent can't go. The workaround is a slow human analyst — and by then you're not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IT WORKS (35s): Sealed agent dispatches through one audited door. A fleet collects under OUR identity, not yours. A membrane sanitizes, catches injection, signs. You get back a brief you can 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(35s): Tell the story. A desk asked if Northwind was breached. The fleet found the leak on a dark-web forum, cross-checked a breach dump, the membrane caught an injection, and signed it — nine days before the company disclosed; the stock fell ~14%. SWAP IN your real entity, dates, 9 days and 14%. Then tamper with one audit entry live and watch the seal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 (35s): We land cheap — €2,500 per seat undercuts the $100k-500k alt-data feeds — then grow on usage: every investigation bills Intelligence Units, metered like cloud compute. The magic is Search DNA: the next similar search reuses the route that worked, same answer at ~40% less compute. Customer sees it get cheaper while our margin climbs 55% to 80%. Profit per search compounds.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(25s): Alt-data is a ~$15B market growing ~21% a year, and 95% of buyers say budgets are rising (Neudata — the industry-native source, not the inflated reports). Bottom-up, the analyst seats that need external intelligence are ~$1.5B. We land 1,000 seats in year one (~€2.5M), scaling to €25M+ as usage grows and we expand from funds to bank deal desks, corporate security and cyber-insurers.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US (30s): Provenance is the moat now; Search DNA compounds later. And we have the buyer, the quants and the engineers on one team. Close: Altai — the governed door to the outside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1.png"/><Relationship Id="rId7" Type="http://schemas.openxmlformats.org/officeDocument/2006/relationships/image" Target="../media/image-3-1.png"/><Relationship Id="rId8" Type="http://schemas.openxmlformats.org/officeDocument/2006/relationships/image" Target="../media/image-3-1.png"/><Relationship Id="rId9" Type="http://schemas.openxmlformats.org/officeDocument/2006/relationships/image" Target="../media/image-3-1.png"/><Relationship Id="rId10" Type="http://schemas.openxmlformats.org/officeDocument/2006/relationships/image" Target="../media/image-3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altai-brand/png/altai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2103120"/>
            <a:ext cx="3209544" cy="2468880"/>
          </a:xfrm>
          <a:prstGeom prst="rect">
            <a:avLst/>
          </a:prstGeom>
        </p:spPr>
      </p:pic>
      <p:pic>
        <p:nvPicPr>
          <p:cNvPr id="3" name="Image 1" descr="/mnt/user-data/outputs/altai-brand/png/altai-agent-seal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3749040"/>
            <a:ext cx="1485900" cy="1143000"/>
          </a:xfrm>
          <a:prstGeom prst="rect">
            <a:avLst/>
          </a:prstGeom>
        </p:spPr>
      </p:pic>
      <p:pic>
        <p:nvPicPr>
          <p:cNvPr id="4" name="Image 2" descr="/mnt/user-data/outputs/altai-brand/png/altai-ag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526280"/>
            <a:ext cx="1248156" cy="960120"/>
          </a:xfrm>
          <a:prstGeom prst="rect">
            <a:avLst/>
          </a:prstGeom>
        </p:spPr>
      </p:pic>
      <p:pic>
        <p:nvPicPr>
          <p:cNvPr id="5" name="Image 3" descr="/mnt/user-data/outputs/altai-brand/png/altai-ag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40080"/>
            <a:ext cx="713232" cy="54864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508760" y="6583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Altai</a:t>
            </a:r>
            <a:endParaRPr lang="en-US" sz="2600" dirty="0"/>
          </a:p>
        </p:txBody>
      </p:sp>
      <p:sp>
        <p:nvSpPr>
          <p:cNvPr id="7" name="Text 1"/>
          <p:cNvSpPr/>
          <p:nvPr/>
        </p:nvSpPr>
        <p:spPr>
          <a:xfrm>
            <a:off x="640080" y="1874520"/>
            <a:ext cx="7315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smartest AI agent at a hedge fund </a:t>
            </a:r>
            <a:pPr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A84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isn't allowed to open a web page.</a:t>
            </a:r>
            <a:endParaRPr lang="en-US" sz="3700" dirty="0"/>
          </a:p>
        </p:txBody>
      </p:sp>
      <p:sp>
        <p:nvSpPr>
          <p:cNvPr id="8" name="Text 2"/>
          <p:cNvSpPr/>
          <p:nvPr/>
        </p:nvSpPr>
        <p:spPr>
          <a:xfrm>
            <a:off x="640080" y="45720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 is the one governed door that lets it investigate the open, blocked, and dark web — and return market-moving intelligence with cryptographic proof. The firm never touches the wire.</a:t>
            </a:r>
            <a:endParaRPr lang="en-US" sz="1550" dirty="0"/>
          </a:p>
        </p:txBody>
      </p:sp>
      <p:sp>
        <p:nvSpPr>
          <p:cNvPr id="9" name="Text 3"/>
          <p:cNvSpPr/>
          <p:nvPr/>
        </p:nvSpPr>
        <p:spPr>
          <a:xfrm>
            <a:off x="640080" y="61996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Builds 2026  ·  Software for Agents  ·  Gabriel · Melena · Louis · Kathy · Emile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altai-brand/png/altai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365760"/>
            <a:ext cx="5943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68535" y="38404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Altai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edge lives outside. The agent can't reach it.</a:t>
            </a:r>
            <a:endParaRPr lang="en-US" sz="3000" dirty="0"/>
          </a:p>
        </p:txBody>
      </p:sp>
      <p:pic>
        <p:nvPicPr>
          <p:cNvPr id="6" name="Image 1" descr="/mnt/user-data/outputs/altai-brand/png/altai-agent-seal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286000"/>
            <a:ext cx="2020824" cy="1554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agent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by the CISO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3611880" y="2148840"/>
            <a:ext cx="0" cy="1874520"/>
          </a:xfrm>
          <a:prstGeom prst="line">
            <a:avLst/>
          </a:prstGeom>
          <a:noFill/>
          <a:ln w="31750">
            <a:solidFill>
              <a:srgbClr val="C2673F"/>
            </a:solidFill>
            <a:prstDash val="dash"/>
          </a:ln>
        </p:spPr>
      </p:sp>
      <p:sp>
        <p:nvSpPr>
          <p:cNvPr id="9" name="Text 5"/>
          <p:cNvSpPr/>
          <p:nvPr/>
        </p:nvSpPr>
        <p:spPr>
          <a:xfrm>
            <a:off x="3291840" y="2788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2971800" y="40233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outbound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846320" y="224028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983480" y="2240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+ blocked web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846320" y="2807208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983480" y="28072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&amp; leak data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4846320" y="3374136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983480" y="33741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Dark-web chatter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4846320" y="3941064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983480" y="39410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Filings before they're news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846320" y="4572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signal is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8229600" y="219456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every desk is standing up internal AI agents for research.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 is correct security — and it cuts the agent off from the outside world.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that moves a stock lives exactly where the agent can't go.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workaround is a human analyst: slow, risky, not first.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mover takes the trade. Everyone else reads the press release.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altai-brand/png/altai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365760"/>
            <a:ext cx="5943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68535" y="38404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Altai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audited door. A fleet does the dangerous part. A signed brief comes back.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468880" y="3429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937760" y="3429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503920" y="3429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1828800" cy="2743200"/>
          </a:xfrm>
          <a:prstGeom prst="roundRect">
            <a:avLst>
              <a:gd name="adj" fmla="val 4000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</a:t>
            </a:r>
            <a:endParaRPr lang="en-US" sz="1050" dirty="0"/>
          </a:p>
        </p:txBody>
      </p:sp>
      <p:pic>
        <p:nvPicPr>
          <p:cNvPr id="11" name="Image 1" descr="/mnt/user-data/outputs/altai-brand/png/altai-agent-seal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2423160"/>
            <a:ext cx="1545336" cy="1188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no keys 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egress only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834640" y="187452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2834640" y="1984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834640" y="2560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check</a:t>
            </a:r>
            <a:endParaRPr lang="en-US" sz="13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stripped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capped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834640" y="3886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under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Altai's egress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303520" y="187452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EFEADF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303520" y="1984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· OUTSIDE WORLD</a:t>
            </a:r>
            <a:endParaRPr lang="en-US" sz="1050" dirty="0"/>
          </a:p>
        </p:txBody>
      </p:sp>
      <p:pic>
        <p:nvPicPr>
          <p:cNvPr id="19" name="Image 2" descr="/mnt/user-data/outputs/altai-brand/png/altai-ag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514" y="2331720"/>
            <a:ext cx="1010412" cy="7772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03520" y="3108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00" dirty="0"/>
          </a:p>
        </p:txBody>
      </p:sp>
      <p:pic>
        <p:nvPicPr>
          <p:cNvPr id="21" name="Image 3" descr="/mnt/user-data/outputs/altai-brand/png/altai-ag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3474720"/>
            <a:ext cx="927202" cy="7132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31536" y="4206240"/>
            <a:ext cx="1256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pic>
        <p:nvPicPr>
          <p:cNvPr id="23" name="Image 4" descr="/mnt/user-data/outputs/altai-brand/png/altai-ag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3474720"/>
            <a:ext cx="927202" cy="7132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345936" y="4206240"/>
            <a:ext cx="1256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</a:t>
            </a:r>
            <a:endParaRPr lang="en-US" sz="1000" dirty="0"/>
          </a:p>
        </p:txBody>
      </p:sp>
      <p:pic>
        <p:nvPicPr>
          <p:cNvPr id="25" name="Image 5" descr="/mnt/user-data/outputs/altai-brand/png/altai-ag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928" y="3474720"/>
            <a:ext cx="927202" cy="7132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260336" y="4206240"/>
            <a:ext cx="1256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8869680" y="187452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28" name="Text 20"/>
          <p:cNvSpPr/>
          <p:nvPr/>
        </p:nvSpPr>
        <p:spPr>
          <a:xfrm>
            <a:off x="8869680" y="19842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</a:t>
            </a:r>
            <a:endParaRPr lang="en-US" sz="1050" dirty="0"/>
          </a:p>
        </p:txBody>
      </p:sp>
      <p:pic>
        <p:nvPicPr>
          <p:cNvPr id="29" name="Image 6" descr="/mnt/user-data/outputs/altai-brand/png/altai-ag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0" y="2514600"/>
            <a:ext cx="927202" cy="71323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869680" y="3246120"/>
            <a:ext cx="12929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</a:t>
            </a:r>
            <a:endParaRPr lang="en-US" sz="950" dirty="0"/>
          </a:p>
        </p:txBody>
      </p:sp>
      <p:pic>
        <p:nvPicPr>
          <p:cNvPr id="31" name="Image 7" descr="/mnt/user-data/outputs/altai-brand/png/altai-ag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3808" y="2514600"/>
            <a:ext cx="927202" cy="71323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710928" y="3246120"/>
            <a:ext cx="12929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De-inject</a:t>
            </a:r>
            <a:endParaRPr lang="en-US" sz="950" dirty="0"/>
          </a:p>
        </p:txBody>
      </p:sp>
      <p:pic>
        <p:nvPicPr>
          <p:cNvPr id="33" name="Image 8" descr="/mnt/user-data/outputs/altai-brand/png/altai-age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35056" y="2514600"/>
            <a:ext cx="927202" cy="713232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10552176" y="3246120"/>
            <a:ext cx="12929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950" dirty="0"/>
          </a:p>
        </p:txBody>
      </p:sp>
      <p:sp>
        <p:nvSpPr>
          <p:cNvPr id="35" name="Text 24"/>
          <p:cNvSpPr/>
          <p:nvPr/>
        </p:nvSpPr>
        <p:spPr>
          <a:xfrm>
            <a:off x="8869680" y="3886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crosses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it's clean</a:t>
            </a:r>
            <a:endParaRPr lang="en-US" sz="1100" dirty="0"/>
          </a:p>
        </p:txBody>
      </p:sp>
      <p:sp>
        <p:nvSpPr>
          <p:cNvPr id="36" name="Shape 25"/>
          <p:cNvSpPr/>
          <p:nvPr/>
        </p:nvSpPr>
        <p:spPr>
          <a:xfrm>
            <a:off x="640080" y="498348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C2673F"/>
          </a:solidFill>
          <a:ln w="12700">
            <a:solidFill>
              <a:srgbClr val="C267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pic>
        <p:nvPicPr>
          <p:cNvPr id="37" name="Image 9" descr="/mnt/user-data/outputs/altai-brand/png/altai-agent-seal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680" y="5138928"/>
            <a:ext cx="832104" cy="64008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1783080" y="51206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400" dirty="0"/>
          </a:p>
        </p:txBody>
      </p:sp>
      <p:sp>
        <p:nvSpPr>
          <p:cNvPr id="39" name="Text 27"/>
          <p:cNvSpPr/>
          <p:nvPr/>
        </p:nvSpPr>
        <p:spPr>
          <a:xfrm>
            <a:off x="2331720" y="50749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sourced brief —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inside the air-gap (Ed25519 over a tamper-evident Merkle ledger). The sealed agent trusts it because the math says so.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altai-brand/png/altai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365760"/>
            <a:ext cx="5943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68535" y="38404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Altai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A84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0" dirty="0"/>
          </a:p>
        </p:txBody>
      </p:sp>
      <p:sp>
        <p:nvSpPr>
          <p:cNvPr id="6" name="Text 3"/>
          <p:cNvSpPr/>
          <p:nvPr/>
        </p:nvSpPr>
        <p:spPr>
          <a:xfrm>
            <a:off x="548640" y="3520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before the company</a:t>
            </a:r>
            <a:endParaRPr lang="en-US" sz="2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told the market.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48640" y="4343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RECORDED DEMO CASE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31520" y="4983480"/>
            <a:ext cx="146304" cy="146304"/>
          </a:xfrm>
          <a:prstGeom prst="ellipse">
            <a:avLst/>
          </a:prstGeom>
          <a:solidFill>
            <a:srgbClr val="C2673F"/>
          </a:solidFill>
          <a:ln/>
        </p:spPr>
      </p:sp>
      <p:sp>
        <p:nvSpPr>
          <p:cNvPr id="9" name="Shape 6"/>
          <p:cNvSpPr/>
          <p:nvPr/>
        </p:nvSpPr>
        <p:spPr>
          <a:xfrm>
            <a:off x="932688" y="5056632"/>
            <a:ext cx="2194560" cy="0"/>
          </a:xfrm>
          <a:prstGeom prst="line">
            <a:avLst/>
          </a:prstGeom>
          <a:noFill/>
          <a:ln w="25400">
            <a:solidFill>
              <a:srgbClr val="C2673F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182112" y="4983480"/>
            <a:ext cx="146304" cy="146304"/>
          </a:xfrm>
          <a:prstGeom prst="ellipse">
            <a:avLst/>
          </a:prstGeom>
          <a:solidFill>
            <a:srgbClr val="1A1916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5193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 knew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377440" y="5193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disclosure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937760" y="1234440"/>
            <a:ext cx="6629400" cy="4617720"/>
          </a:xfrm>
          <a:prstGeom prst="roundRect">
            <a:avLst>
              <a:gd name="adj" fmla="val 1584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257800" y="1463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257800" y="1828800"/>
            <a:ext cx="6035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 asked: has </a:t>
            </a:r>
            <a:pPr indent="0" marL="0">
              <a:lnSpc>
                <a:spcPct val="116000"/>
              </a:lnSpc>
              <a:buNone/>
            </a:pPr>
            <a:r>
              <a:rPr lang="en-US" sz="1450" b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Logistics</a:t>
            </a:r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been breached? The sealed agent dispatched the question and never touched the wire. Public web showed nothing — but the </a:t>
            </a:r>
            <a:pPr indent="0" marL="0">
              <a:lnSpc>
                <a:spcPct val="116000"/>
              </a:lnSpc>
              <a:buNone/>
            </a:pPr>
            <a:r>
              <a:rPr lang="en-US" sz="1450" b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Scout</a:t>
            </a:r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found the company's customer database for sale on a dark-web forum, and the </a:t>
            </a:r>
            <a:pPr indent="0" marL="0">
              <a:lnSpc>
                <a:spcPct val="116000"/>
              </a:lnSpc>
              <a:buNone/>
            </a:pPr>
            <a:r>
              <a:rPr lang="en-US" sz="1450" b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Scout</a:t>
            </a:r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matched the same credentials in a fresh dump. The membrane caught a prompt-injection hidden in the forum post, quarantined it, and signed the brief.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257800" y="3703320"/>
            <a:ext cx="5989320" cy="0"/>
          </a:xfrm>
          <a:prstGeom prst="line">
            <a:avLst/>
          </a:prstGeom>
          <a:noFill/>
          <a:ln w="12700">
            <a:solidFill>
              <a:srgbClr val="E5DFD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57800" y="388620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buSzPct val="100000"/>
              <a:buChar char="•"/>
            </a:pPr>
            <a:r>
              <a:rPr lang="en-US" sz="1400" b="1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air-gap is real: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from the sealed box times out — not a mockup.</a:t>
            </a:r>
            <a:endParaRPr lang="en-US" sz="1400" dirty="0"/>
          </a:p>
          <a:p>
            <a:pPr marL="190500" indent="-190500">
              <a:lnSpc>
                <a:spcPct val="108000"/>
              </a:lnSpc>
              <a:buSzPct val="100000"/>
              <a:buChar char="•"/>
            </a:pPr>
            <a:r>
              <a:rPr lang="en-US" sz="1400" b="1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 confidence,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over 3 independent sources (noisy-OR).</a:t>
            </a:r>
            <a:endParaRPr lang="en-US" sz="1400" dirty="0"/>
          </a:p>
          <a:p>
            <a:pPr marL="190500" indent="-190500">
              <a:lnSpc>
                <a:spcPct val="108000"/>
              </a:lnSpc>
              <a:buSzPct val="100000"/>
              <a:buChar char="•"/>
            </a:pPr>
            <a:r>
              <a:rPr lang="en-US" sz="1400" b="1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on camera: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one audit entry → the seal breaks.</a:t>
            </a:r>
            <a:endParaRPr lang="en-US" sz="1400" dirty="0"/>
          </a:p>
          <a:p>
            <a:pPr marL="190500" indent="-190500">
              <a:lnSpc>
                <a:spcPct val="108000"/>
              </a:lnSpc>
              <a:buSzPct val="100000"/>
              <a:buChar char="•"/>
            </a:pPr>
            <a:r>
              <a:rPr lang="en-US" sz="1400" b="1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Quantified: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stock fell ~14% over the disclosure window.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altai-brand/png/altai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365760"/>
            <a:ext cx="5943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68535" y="38404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Altai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per seat. Grow on usage. Search DNA compounds the margin.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EFEADF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16916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spc="20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/ Head of Research on an event-driven or multi-strategy desk — they already spend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$100k–$500k/yr per alt-data source.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5303520" cy="3063240"/>
          </a:xfrm>
          <a:prstGeom prst="roundRect">
            <a:avLst>
              <a:gd name="adj" fmla="val 2388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32688" y="29443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32688" y="3291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€2,500 / yr per seat</a:t>
            </a:r>
            <a:pPr indent="0" marL="0">
              <a:buNone/>
            </a:pPr>
            <a:r>
              <a:rPr lang="en-US" sz="12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 analyst's access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32688" y="3886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they pay per investigation in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Units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metered like cloud compute, not a flat license.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32688" y="4617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≈ 55 IU   ·   Full diligence ≈ 2,000 IU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32688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on-prem tiers on top.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45352" y="2743200"/>
            <a:ext cx="5303520" cy="3063240"/>
          </a:xfrm>
          <a:prstGeom prst="roundRect">
            <a:avLst>
              <a:gd name="adj" fmla="val 2388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37960" y="2944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DNA → MARGIN COMPOUNDS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37960" y="32918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investigation records the route that worked. The next similar one reuses it instead of re-exploring — a fraction of the compute.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53796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 per investigation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144000" y="4114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→ 1,200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37960" y="4498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fulfil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44000" y="44988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$900 → $350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537960" y="48828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144000" y="488289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→ 80%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53796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searches → richer Search DNA → cheaper searches → higher margin → repeat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altai-brand/png/altai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365760"/>
            <a:ext cx="5943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68535" y="38404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Altai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people who pay the most to be first.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05740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84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$15B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alternative-data spend today, growing ~21%/yr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Neudata · 95% of buyers expect budgets to rise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70832" y="182880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99432" y="205740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84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~$1.5B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4599432" y="301752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seats that need external intelligence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599432" y="38862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bottom-up: ~150k seats × base + consumption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01584" y="182880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30184" y="205740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84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€25M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8330184" y="301752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at 10,000 seats + consumption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330184" y="38862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1,000 seats first (~€2.5M)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029200"/>
            <a:ext cx="2331720" cy="640080"/>
          </a:xfrm>
          <a:prstGeom prst="roundRect">
            <a:avLst>
              <a:gd name="adj" fmla="val 11429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31520" y="5029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Hedge-fund desks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2971800" y="5029200"/>
            <a:ext cx="329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3300984" y="5029200"/>
            <a:ext cx="2331720" cy="640080"/>
          </a:xfrm>
          <a:prstGeom prst="roundRect">
            <a:avLst>
              <a:gd name="adj" fmla="val 11429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392424" y="5029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deal &amp; counterparty intel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632704" y="5029200"/>
            <a:ext cx="329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961888" y="5029200"/>
            <a:ext cx="2331720" cy="640080"/>
          </a:xfrm>
          <a:prstGeom prst="roundRect">
            <a:avLst>
              <a:gd name="adj" fmla="val 11429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053328" y="5029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security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293608" y="5029200"/>
            <a:ext cx="329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8622792" y="5029200"/>
            <a:ext cx="2331720" cy="640080"/>
          </a:xfrm>
          <a:prstGeom prst="roundRect">
            <a:avLst>
              <a:gd name="adj" fmla="val 11429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714232" y="5029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Cyber-insurers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altai-brand/png/altai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365760"/>
            <a:ext cx="59436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68535" y="38404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Altai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have the buyer, the quants and the engineers on one team.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03520" cy="2331720"/>
          </a:xfrm>
          <a:prstGeom prst="roundRect">
            <a:avLst>
              <a:gd name="adj" fmla="val 3137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32688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NOW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32688" y="23774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signed audit ledger turns a risky signal into a compliantly usable one. Provenance is the feature — it's what lets the desk actually trade on what we find.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45352" y="1783080"/>
            <a:ext cx="5303520" cy="2331720"/>
          </a:xfrm>
          <a:prstGeom prst="roundRect">
            <a:avLst>
              <a:gd name="adj" fmla="val 3137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LATER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37960" y="23774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DNA compounds across every connected agent — a learned navigation network where the membrane is the free reward oracle. Each search makes the platform cheaper and smarter. Not a weekend clone.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0080" y="44348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" y="45628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Gabriel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" y="49103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Waterloo eng · founder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907792" y="44348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090672" y="45628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Melena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090672" y="49103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ex-Rothschild · the buyer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175504" y="44348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358384" y="45628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Louis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358384" y="49103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+ data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443216" y="44348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626096" y="45628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Kathy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626096" y="49103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Dauphine · finance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710928" y="44348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BF9F4"/>
          </a:solidFill>
          <a:ln w="12700">
            <a:solidFill>
              <a:srgbClr val="E5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9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893808" y="45628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Emile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893808" y="49103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A84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Altai — the governed door to the outside world.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Altai</dc:title>
  <dc:subject>PptxGenJS Presentation</dc:subject>
  <dc:creator>Altai</dc:creator>
  <cp:lastModifiedBy>Altai</cp:lastModifiedBy>
  <cp:revision>1</cp:revision>
  <dcterms:created xsi:type="dcterms:W3CDTF">2026-06-28T07:09:45Z</dcterms:created>
  <dcterms:modified xsi:type="dcterms:W3CDTF">2026-06-28T07:09:45Z</dcterms:modified>
</cp:coreProperties>
</file>